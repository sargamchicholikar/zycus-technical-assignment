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Monthly Portfolio Health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Cross-project RAG status, synthesized from live project-plan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Generated 2026-07-10 00:22  |  2 project(s)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Report period: 2026-06-05 to 2026-06-26 (up to 4 weekly runs recorded so far)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Portfolio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Traffic-light status across all tracked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8424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Composite score: 65.0   |   Confidence: 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1673352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2 red signal(s)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Composite score: 89.7   |   Confidence: 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770632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7889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no red signals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Emerging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Signals currently pulling status down (single snapshot — see Trend Analysis)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Portfolio pattern: Milestone Health is a shared weak spot across all 2 tracked project(s).  •  No project in this portfolio has budget/cost tracking data in its source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394960" cy="370332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188720" cy="32004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9 of its 14 milestones are delayed or missed, including Configuration and Build phase and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One blocker ("Supplier Notification template") has been open for 92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9F2D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Stakeholder comments read mostly cautious or mixed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40280"/>
            <a:ext cx="5394960" cy="370332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880360"/>
            <a:ext cx="1188720" cy="32004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9F2D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8328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1 of its 39 milestones is delayed or missed, including Training Phase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Note: 4 weekly snapshots recorded for at least one project — see Trend Analysis for the real composite-score trend across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Milestone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Delayed or missed milestones by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691640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415C"/>
                </a:solidFill>
                <a:latin typeface="Calibri"/>
              </a:rPr>
              <a:t>9/14 milestones delayed or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E"/>
                </a:solidFill>
                <a:latin typeface="Calibri"/>
              </a:rPr>
              <a:t>Configuration and Build phase, UAT, Train The Trainer, Production &amp; Cutover, Go-Live &amp; Support intro, Hyper Care(Measure and Adoption) Solution...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4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886200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415C"/>
                </a:solidFill>
                <a:latin typeface="Calibri"/>
              </a:rPr>
              <a:t>1/39 milestones delayed or missed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E"/>
                </a:solidFill>
                <a:latin typeface="Calibri"/>
              </a:rPr>
              <a:t>Training Phase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Budget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C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8A5A00"/>
                </a:solidFill>
                <a:latin typeface="Calibri"/>
              </a:rPr>
              <a:t>No cost/budget column exists in either source project plan. Budget burn cannot be measured this period — figures below are not fabricated.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971800"/>
            <a:ext cx="1097280" cy="32004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Signal dropped — no budget data in source; weight redistributed to the other four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572000"/>
            <a:ext cx="1097280" cy="32004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Signal dropped — no budget data in source; weight redistributed to the other four signals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Composite RAG Score Over Time (real weekly runs, not modeled)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64240" cy="768096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05 · 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12 · 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19 · 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26 ·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60904"/>
            <a:ext cx="11064240" cy="768096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34056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706624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2666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05 · 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706624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02666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12 · 90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706624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2666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19 · 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706624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02666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26 · 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What's ALSO real: Stakeholder Sentiment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Comment timestamps are real, dated facts — re-scoring sentiment using only comments that existed by each past week is measuring history, not modeling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805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53712"/>
            <a:ext cx="23774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Zycus - Titan S2P Implementation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3 weeks ago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2 weeks ago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1 week ago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This week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468112"/>
            <a:ext cx="23774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0" y="54681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8155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3 weeks ago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80" y="54681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8155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2 weeks ago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54681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8155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1 week ago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54681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8155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This week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Generated for a VP audience from this month's portfolio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642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Implement enhanced milestone tracking and monitoring mechanisms across all projects, particularly focusing on Zycus - Titan S2P Implementation due to its high number of delayed or missed milestones.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786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Develop a standardized budget/cost tracking framework applicable to the entire portfolio, starting with projects like Zycus - Titan S2P Implementation where financial oversight is currently lacking.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930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Initiate comprehensive stakeholder sentiment analysis for all projects, leveraging insights from Zycus - UniSan S2P Implementation as a model to improve engagement and address concerns across the 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